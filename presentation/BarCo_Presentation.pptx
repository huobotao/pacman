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solidFill>
            <a:srgbClr val="0E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62872" y="0"/>
            <a:ext cx="45720" cy="685800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28632" y="1097280"/>
            <a:ext cx="1828800" cy="18288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0AE1C"/>
                </a:solidFill>
                <a:latin typeface="Calibri"/>
              </a:rPr>
              <a:t>BarCo Corporation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Supply Chain 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8CEEB"/>
                </a:solidFill>
                <a:latin typeface="Calibri Light"/>
              </a:rPr>
              <a:t>Under Natural Gas Curtailment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01568"/>
            <a:ext cx="6858000" cy="45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CCC"/>
                </a:solidFill>
                <a:latin typeface="Calibri Light"/>
              </a:rPr>
              <a:t>A Linear Programming Approach to Production and Distribution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90B8"/>
                </a:solidFill>
                <a:latin typeface="Calibri Light"/>
              </a:rPr>
              <a:t>49680 Value Chain Engineering Systems  ·  Autumn 2026  ·  UTS FEIT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1324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90B8"/>
                </a:solidFill>
                <a:latin typeface="Calibri Light"/>
              </a:rPr>
              <a:t>Group Z  ·  Botao Huo (25104579)  ·  Shah Misbabun Nur Rupom (26042287)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7192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A345E"/>
                </a:solidFill>
                <a:latin typeface="Calibri"/>
              </a:rPr>
              <a:t>VCES
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4 key sections — aligned with assessment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303520" cy="210312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822960" cy="2103120"/>
          </a:xfrm>
          <a:prstGeom prst="rect">
            <a:avLst/>
          </a:prstGeom>
          <a:solidFill>
            <a:srgbClr val="00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057400"/>
            <a:ext cx="749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AE1C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6276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AE1C"/>
                </a:solidFill>
                <a:latin typeface="Calibri"/>
              </a:rPr>
              <a:t>Business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121408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EEFF"/>
                </a:solidFill>
                <a:latin typeface="Calibri Light"/>
              </a:rPr>
              <a:t>Natural gas curtailment context,
federal priority rules &amp; financial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21031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822960" cy="2103120"/>
          </a:xfrm>
          <a:prstGeom prst="rect">
            <a:avLst/>
          </a:prstGeom>
          <a:solidFill>
            <a:srgbClr val="073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749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AA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6276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Analysis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2121408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  <a:latin typeface="Calibri Light"/>
              </a:rPr>
              <a:t>Linear Programming formulation,
model assumptions &amp; methodology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5303520" cy="210312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94760"/>
            <a:ext cx="822960" cy="2103120"/>
          </a:xfrm>
          <a:prstGeom prst="rect">
            <a:avLst/>
          </a:prstGeom>
          <a:solidFill>
            <a:srgbClr val="007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389120"/>
            <a:ext cx="749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AA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95935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53128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  <a:latin typeface="Calibri Light"/>
              </a:rPr>
              <a:t>Production plan, distribution plan,
sensitivity analysis &amp; CO₂ scenario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94760"/>
            <a:ext cx="5303520" cy="2103120"/>
          </a:xfrm>
          <a:prstGeom prst="rect">
            <a:avLst/>
          </a:prstGeom>
          <a:solidFill>
            <a:srgbClr val="8B2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794760"/>
            <a:ext cx="822960" cy="2103120"/>
          </a:xfrm>
          <a:prstGeom prst="rect">
            <a:avLst/>
          </a:prstGeom>
          <a:solidFill>
            <a:srgbClr val="771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4389120"/>
            <a:ext cx="749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AA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95935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453128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  <a:latin typeface="Calibri Light"/>
              </a:rPr>
              <a:t>Three evidence-based strategic
recommendations for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BarCo Corporation — Natural Gas Curtailment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429"/>
                </a:solidFill>
                <a:latin typeface="Calibri"/>
              </a:rPr>
              <a:t>Company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5303520" cy="36576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8 chemical product lines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3 manufacturing complexes (A, B, C)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Gas supplier: MaxEnergy (nodes I, J, K)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Current gas usage: 85,680 × 10³ cu.ft/day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Ammonia uses gas as raw material (2nd Priority)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All other products use gas as boiler fuel (3rd Priority)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429"/>
                </a:solidFill>
                <a:latin typeface="Calibri"/>
              </a:rPr>
              <a:t>The Crisis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73352"/>
            <a:ext cx="5394960" cy="36576"/>
          </a:xfrm>
          <a:prstGeom prst="rect">
            <a:avLst/>
          </a:prstGeom>
          <a:solidFill>
            <a:srgbClr val="C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755648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!  MaxEnergy warns of natural gas shortages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!  Cause: extreme heat wave — power plants at capacity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!  Rolling brownouts: 20–40% curtailment expected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!  Curtailment based on actual usage (85,680), NOT contract max (90,000)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!  MaxEnergy will NOT specify which products to cut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!  BarCo has flexibility to absorb cuts strategically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72000"/>
            <a:ext cx="11183112" cy="173736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72000"/>
            <a:ext cx="54864" cy="17373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6451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429"/>
                </a:solidFill>
                <a:latin typeface="Calibri"/>
              </a:rPr>
              <a:t>Federal Commission Priority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029200"/>
            <a:ext cx="868680" cy="256032"/>
          </a:xfrm>
          <a:prstGeom prst="rect">
            <a:avLst/>
          </a:prstGeom>
          <a:solidFill>
            <a:srgbClr val="18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029200"/>
            <a:ext cx="850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1st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0292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Residential &amp; commercial heating/cooling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5029200"/>
            <a:ext cx="868680" cy="256032"/>
          </a:xfrm>
          <a:prstGeom prst="rect">
            <a:avLst/>
          </a:prstGeom>
          <a:solidFill>
            <a:srgbClr val="E47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5029200"/>
            <a:ext cx="850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2nd 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50292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Industrial raw material users  ← BarCo Ammonia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6" y="5029200"/>
            <a:ext cx="868680" cy="256032"/>
          </a:xfrm>
          <a:prstGeom prst="rect">
            <a:avLst/>
          </a:prstGeom>
          <a:solidFill>
            <a:srgbClr val="C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6" y="5029200"/>
            <a:ext cx="850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3rd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6" y="50292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Industrial boiler fuel users  ← BarCo (all other products)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Financial Risk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What is the potential daily profit impact without management action?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743200" cy="137160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AE1C"/>
                </a:solidFill>
                <a:latin typeface="Calibri"/>
              </a:rPr>
              <a:t>$611,062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03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 Light"/>
              </a:rPr>
              <a:t>Baseline Daily 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2743200" cy="13716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4447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AE1C"/>
                </a:solidFill>
                <a:latin typeface="Calibri"/>
              </a:rPr>
              <a:t>$513,023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103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 Light"/>
              </a:rPr>
              <a:t>Profit at 20% Curtailment
(−16.0%)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371600"/>
            <a:ext cx="2743200" cy="1371600"/>
          </a:xfrm>
          <a:prstGeom prst="rect">
            <a:avLst/>
          </a:prstGeom>
          <a:solidFill>
            <a:srgbClr val="E47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447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$411,623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103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 Light"/>
              </a:rPr>
              <a:t>Profit at 40% Curtailment
(−32.6%)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371600"/>
            <a:ext cx="2743200" cy="1371600"/>
          </a:xfrm>
          <a:prstGeom prst="rect">
            <a:avLst/>
          </a:prstGeom>
          <a:solidFill>
            <a:srgbClr val="C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447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AE1C"/>
                </a:solidFill>
                <a:latin typeface="Calibri"/>
              </a:rPr>
              <a:t>$358,650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103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 Light"/>
              </a:rPr>
              <a:t>Profit at 50% Curtailment
(−41.3%)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71800"/>
            <a:ext cx="11183112" cy="960120"/>
          </a:xfrm>
          <a:prstGeom prst="rect">
            <a:avLst/>
          </a:prstGeom>
          <a:solidFill>
            <a:srgbClr val="FDF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971800"/>
            <a:ext cx="64008" cy="9601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35808"/>
            <a:ext cx="11000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3A00"/>
                </a:solidFill>
                <a:latin typeface="Calibri"/>
              </a:rPr>
              <a:t>⚡  Key Insight:  Profit drops LESS than proportionally to gas — a 50% gas cut causes only a 41.3% profit drop. This is the value of smart prioritisation via LP.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14800"/>
            <a:ext cx="11183112" cy="2331720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114800"/>
            <a:ext cx="64008" cy="2331720"/>
          </a:xfrm>
          <a:prstGeom prst="rect">
            <a:avLst/>
          </a:prstGeom>
          <a:solidFill>
            <a:srgbClr val="18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87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429"/>
                </a:solidFill>
                <a:latin typeface="Calibri"/>
              </a:rPr>
              <a:t>Value of LP-Driven Prioritisation vs. Naive Proportional 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617720"/>
            <a:ext cx="110002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21C2C"/>
                </a:solidFill>
                <a:latin typeface="Calibri Light"/>
              </a:rPr>
              <a:t>✓  At 50% curtailment: LP saves ~$44,000/day vs. proportional cut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21C2C"/>
                </a:solidFill>
                <a:latin typeface="Calibri Light"/>
              </a:rPr>
              <a:t>✓  Annualised value: ~$16 million per year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21C2C"/>
                </a:solidFill>
                <a:latin typeface="Calibri Light"/>
              </a:rPr>
              <a:t>✓  The LP identifies exactly which products to protect and which to cut — the optimal answer, not a guess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Analysis Approach: Linear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Why LP? — The natural mathematical formalism for this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394960" cy="512064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64008" cy="51206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429"/>
                </a:solidFill>
                <a:latin typeface="Calibri"/>
              </a:rPr>
              <a:t>Why Linear Programming?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4708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Linear objective: maximize profit (sum of profit × volume)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Linear constraints: gas budget, capacity limits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Continuous decision variables: production in tons/day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Proven global optimal guarantee via Simplex algorithm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Transparent, auditable, repeatable decisions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121C2C"/>
                </a:solidFill>
                <a:latin typeface="Calibri Light"/>
              </a:rPr>
              <a:t>▸  Sensitivity analysis built in — shows impact of uncertainty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5669280" cy="2377440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25880"/>
            <a:ext cx="64008" cy="237744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429"/>
                </a:solidFill>
                <a:latin typeface="Calibri"/>
              </a:rPr>
              <a:t>Model 1: Production 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847088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21C2C"/>
                </a:solidFill>
                <a:latin typeface="Courier New"/>
              </a:rPr>
              <a:t>Maximise  Z = Σⱼ pⱼ · xⱼ
Subject to:  Σⱼ gⱼ · xⱼ ≤ G  (gas budget)
               0 ≤ xⱼ ≤ capⱼ  (capacity)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86200"/>
            <a:ext cx="5669280" cy="2560320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886200"/>
            <a:ext cx="64008" cy="2560320"/>
          </a:xfrm>
          <a:prstGeom prst="rect">
            <a:avLst/>
          </a:prstGeom>
          <a:solidFill>
            <a:srgbClr val="8B2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97763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429"/>
                </a:solidFill>
                <a:latin typeface="Calibri"/>
              </a:rPr>
              <a:t>Model 2: Distribution (Transportation) 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40740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21C2C"/>
                </a:solidFill>
                <a:latin typeface="Courier New"/>
              </a:rPr>
              <a:t>Minimise  T = ΣᵢΣⱼ cᵢⱼ · yᵢⱼ
Subject to:  Σⱼ yᵢⱼ ≤ sᵢ  (supply)
               Σᵢ yᵢⱼ = dⱼ  (demand)
               yᵢⱼ ≥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Model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Conditions under which the LP solution is valid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577840" cy="160020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64008" cy="160020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429"/>
                </a:solidFill>
                <a:latin typeface="Calibri"/>
              </a:rPr>
              <a:t>Linearity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0136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Profit per ton, gas per ton, and transport cost per 10³ cu.ft are constant throughout the planning period — no economies of scale or diminishing returns.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577840" cy="160020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64008" cy="16002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429"/>
                </a:solidFill>
                <a:latin typeface="Calibri"/>
              </a:rPr>
              <a:t>Divisibility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80136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Production volumes are continuous real numbers. Rounding to integer tons is operationally trivial at BarCo's scale of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63240"/>
            <a:ext cx="5577840" cy="160020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63240"/>
            <a:ext cx="64008" cy="1600200"/>
          </a:xfrm>
          <a:prstGeom prst="rect">
            <a:avLst/>
          </a:prstGeom>
          <a:solidFill>
            <a:srgbClr val="E47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54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429"/>
                </a:solidFill>
                <a:latin typeface="Calibri"/>
              </a:rPr>
              <a:t>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53872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All profit, gas, and cost coefficients are known with certainty. Sensitivity analysis (Slide 11) relaxes this assumption for profit coefficients.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063240"/>
            <a:ext cx="5577840" cy="160020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063240"/>
            <a:ext cx="64008" cy="1600200"/>
          </a:xfrm>
          <a:prstGeom prst="rect">
            <a:avLst/>
          </a:prstGeom>
          <a:solidFill>
            <a:srgbClr val="18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154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429"/>
                </a:solidFill>
                <a:latin typeface="Calibri"/>
              </a:rPr>
              <a:t>Independent Capacities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53872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Each product line operates independently up to its effective capacity. No cross-product machine-sharing or interlocks within a plant.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00600"/>
            <a:ext cx="5577840" cy="160020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00600"/>
            <a:ext cx="64008" cy="1600200"/>
          </a:xfrm>
          <a:prstGeom prst="rect">
            <a:avLst/>
          </a:prstGeom>
          <a:solidFill>
            <a:srgbClr val="8B2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429"/>
                </a:solidFill>
                <a:latin typeface="Calibri"/>
              </a:rPr>
              <a:t>Uniform Curtailment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27608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Gas reduction applies equally and proportionally to all three supply nodes (I, J, K), per MaxEnergy notification.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800600"/>
            <a:ext cx="5577840" cy="160020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800600"/>
            <a:ext cx="64008" cy="1600200"/>
          </a:xfrm>
          <a:prstGeom prst="rect">
            <a:avLst/>
          </a:prstGeom>
          <a:solidFill>
            <a:srgbClr val="C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429"/>
                </a:solidFill>
                <a:latin typeface="Calibri"/>
              </a:rPr>
              <a:t>Single-Period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527608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The LP optimises a representative single day. Multi-period inventory dynamics are noted as a limitation.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Product Economics: The LP's Prioritisation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Profit per unit of gas consumed — this ranking determines the optimal cut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7 / 15</a:t>
            </a:r>
          </a:p>
        </p:txBody>
      </p:sp>
      <p:pic>
        <p:nvPicPr>
          <p:cNvPr id="9" name="Picture 8" descr="profit_per_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822960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78240" y="1280160"/>
            <a:ext cx="3154680" cy="516636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1280160"/>
            <a:ext cx="54864" cy="516636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429"/>
                </a:solidFill>
                <a:latin typeface="Calibri"/>
              </a:rPr>
              <a:t>The 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4544" y="1828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C2C"/>
                </a:solidFill>
                <a:latin typeface="Calibri Light"/>
              </a:rPr>
              <a:t>Under a gas constraint, the LP ranks products by $/1,000 cu.ft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22128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1C2C"/>
                </a:solidFill>
                <a:latin typeface="Calibri"/>
              </a:rPr>
              <a:t>Top 4 protected products (always run at full capacity):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4544" y="25968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8875C"/>
                </a:solidFill>
                <a:latin typeface="Calibri Light"/>
              </a:rPr>
              <a:t>   ① Ammonium Phosphate  $14.00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298094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8875C"/>
                </a:solidFill>
                <a:latin typeface="Calibri Light"/>
              </a:rPr>
              <a:t>   ② Urea  $10.36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3364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8875C"/>
                </a:solidFill>
                <a:latin typeface="Calibri Light"/>
              </a:rPr>
              <a:t>   ③ Chlorine  $8.46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4" y="3749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8875C"/>
                </a:solidFill>
                <a:latin typeface="Calibri Light"/>
              </a:rPr>
              <a:t>   ④ Ammonium Nitrate  $6.67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41330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21C2C"/>
                </a:solidFill>
                <a:latin typeface="Calibri"/>
              </a:rPr>
              <a:t>Products cut first (from lowest):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451713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2B2B"/>
                </a:solidFill>
                <a:latin typeface="Calibri Light"/>
              </a:rPr>
              <a:t>   ⑧ Hydrofluoric Acid  $5.59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490118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2B2B"/>
                </a:solidFill>
                <a:latin typeface="Calibri Light"/>
              </a:rPr>
              <a:t>   ⑦ Ammonia  $5.83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528523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2B2B"/>
                </a:solidFill>
                <a:latin typeface="Calibri Light"/>
              </a:rPr>
              <a:t>   ⑥ Vinyl Chloride Monomer  $5.94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5669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47E10"/>
                </a:solidFill>
                <a:latin typeface="Calibri Light"/>
              </a:rPr>
              <a:t>   ⑤ Caustic Soda  $6.25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8229600" cy="50292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3036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3A00"/>
                </a:solidFill>
                <a:latin typeface="Calibri Light"/>
              </a:rPr>
              <a:t>Note: This is not a heuristic — it is the exact LP solution. The Simplex algorithm discovers this ranking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Production Plan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Optimal product mix under each curtailment scenario (LP-derived)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2194560" cy="356616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1389888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325880"/>
            <a:ext cx="1463040" cy="356616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0904" y="138988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325880"/>
            <a:ext cx="1463040" cy="356616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3944" y="138988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20% Cut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325880"/>
            <a:ext cx="1463040" cy="356616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4" y="138988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30% Cut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325880"/>
            <a:ext cx="1463040" cy="356616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0024" y="138988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40% Cut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325880"/>
            <a:ext cx="1463040" cy="356616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1389888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50% Cut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682496"/>
            <a:ext cx="219456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746504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Ammonium Phosphate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1682496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174650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1682496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174650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1682496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174650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1682496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4650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1682496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74650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039112"/>
            <a:ext cx="2194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Urea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203911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210312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03911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210312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203911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210312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203911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210312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203911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210312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395728"/>
            <a:ext cx="219456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459736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Chlorine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2395728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245973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1,350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2395728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245973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1,350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2395728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245973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1,350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2395728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245973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1,350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200" y="2395728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245973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1,350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752344"/>
            <a:ext cx="2194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2816352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Ammonium Nitrate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2752344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1760" y="281635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630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69080" y="2752344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0" y="281635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630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2752344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0" y="281635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630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95160" y="2752344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0" y="281635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630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58200" y="2752344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0" y="281635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630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3108960"/>
            <a:ext cx="219456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172968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Caustic Soda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6040" y="3108960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51760" y="317296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1,280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69080" y="3108960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0" y="317296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1,280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2120" y="3108960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77840" y="317296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1,280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95160" y="3108960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40880" y="317296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1,280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200" y="3108960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317296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720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" y="3465576"/>
            <a:ext cx="2194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3529584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Vinyl Chloride Mon.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06040" y="3465576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51760" y="352958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980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69080" y="3465576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0" y="352958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980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32120" y="3465576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77840" y="352958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651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95160" y="3465576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40880" y="352958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116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458200" y="3465576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03920" y="3529584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" y="3822192"/>
            <a:ext cx="219456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3886200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Ammonia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06040" y="3822192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51760" y="388620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1,050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69080" y="3822192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0" y="388620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275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532120" y="3822192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577840" y="388620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95160" y="3822192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040880" y="388620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58200" y="3822192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03920" y="3886200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1480" y="4178808"/>
            <a:ext cx="2194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4242816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Hydrofluoric Acid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06040" y="417880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51760" y="424281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461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069080" y="417880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0" y="424281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32120" y="417880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77840" y="424281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95160" y="417880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40880" y="424281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58200" y="417880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03920" y="4242816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1480" y="4535424"/>
            <a:ext cx="219456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57200" y="4599432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Daily Profit ($)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606040" y="4535424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51760" y="459943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8875C"/>
                </a:solidFill>
                <a:latin typeface="Calibri"/>
              </a:rPr>
              <a:t>$611,062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069080" y="4535424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14800" y="459943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47E10"/>
                </a:solidFill>
                <a:latin typeface="Calibri"/>
              </a:rPr>
              <a:t>$513,023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532120" y="4535424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577840" y="459943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47E10"/>
                </a:solidFill>
                <a:latin typeface="Calibri"/>
              </a:rPr>
              <a:t>$462,495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995160" y="4535424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40880" y="459943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$411,623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458200" y="4535424"/>
            <a:ext cx="1463040" cy="356616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503920" y="4599432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$358,650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1480" y="4892040"/>
            <a:ext cx="21945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57200" y="4956048"/>
            <a:ext cx="21214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vs. Baseline (%)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06040" y="489204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51760" y="495604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069080" y="489204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114800" y="495604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−16.0%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532120" y="489204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577840" y="495604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−24.3%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995160" y="489204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040880" y="495604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−32.6%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58200" y="489204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503920" y="4956048"/>
            <a:ext cx="1389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−41.3%</a:t>
            </a:r>
          </a:p>
        </p:txBody>
      </p:sp>
      <p:pic>
        <p:nvPicPr>
          <p:cNvPr id="141" name="Picture 140" descr="produc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298448"/>
            <a:ext cx="2194560" cy="5120640"/>
          </a:xfrm>
          <a:prstGeom prst="rect">
            <a:avLst/>
          </a:prstGeom>
        </p:spPr>
      </p:pic>
      <p:sp>
        <p:nvSpPr>
          <p:cNvPr id="142" name="Rectangle 141"/>
          <p:cNvSpPr/>
          <p:nvPr/>
        </p:nvSpPr>
        <p:spPr>
          <a:xfrm>
            <a:off x="411480" y="5193792"/>
            <a:ext cx="9235440" cy="566928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48640" y="5230368"/>
            <a:ext cx="8961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8875C"/>
                </a:solidFill>
                <a:latin typeface="Calibri"/>
              </a:rPr>
              <a:t>✓  The LP protects the 4 highest-margin products at full capacity even under 50% curtailment.  Cut sequence: HF → Ammonia → VCM → Caustic Soda.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Distribution Plan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Optimal gas allocation from MaxEnergy nodes (I, J, K) to BarCo plants (A, B, 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9 / 15</a:t>
            </a:r>
          </a:p>
        </p:txBody>
      </p:sp>
      <p:pic>
        <p:nvPicPr>
          <p:cNvPr id="9" name="Picture 8" descr="distribu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8778240" cy="3474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4846320"/>
            <a:ext cx="8778240" cy="173736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846320"/>
            <a:ext cx="54864" cy="173736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93776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▸  Five active lanes: I→B, J→A, J→B, K→B, K→C  |  Baseline total cost: $113,952/day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330952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▸  Structure is INVARIANT under curtailment — only volumes shrink proportionally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724144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▸  Average unit cost remains constant at $1.33 per 1,000 cu.ft regardless of curtailment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117336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C2C"/>
                </a:solidFill>
                <a:latin typeface="Calibri Light"/>
              </a:rPr>
              <a:t>▸  Unused lanes I→C ($1.60) and K→A ($1.80) — candidates for renegotiation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261872"/>
            <a:ext cx="2651760" cy="34747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3533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429"/>
                </a:solidFill>
                <a:latin typeface="Calibri"/>
              </a:rPr>
              <a:t>Distribution Costs
($ per 1,000 cu.ft)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3456" y="1920240"/>
            <a:ext cx="713232" cy="338328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984248"/>
            <a:ext cx="621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0076688" y="1920240"/>
            <a:ext cx="621792" cy="338328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1984248"/>
            <a:ext cx="5303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Plant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0" y="1920240"/>
            <a:ext cx="621792" cy="338328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53344" y="1984248"/>
            <a:ext cx="5303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Plant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320272" y="1920240"/>
            <a:ext cx="621792" cy="338328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75136" y="1984248"/>
            <a:ext cx="5303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Plant 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6" y="2258568"/>
            <a:ext cx="71323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2322576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Source 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76688" y="2258568"/>
            <a:ext cx="62179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2408" y="2322576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98480" y="2258568"/>
            <a:ext cx="62179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2322576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$1.20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20272" y="2258568"/>
            <a:ext cx="62179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65992" y="2322576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63456" y="2596896"/>
            <a:ext cx="71323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9176" y="2660904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Source J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76688" y="2596896"/>
            <a:ext cx="6217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2408" y="266090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$1.20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98480" y="2596896"/>
            <a:ext cx="6217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44200" y="266090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320272" y="2596896"/>
            <a:ext cx="6217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365992" y="266090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63456" y="2935224"/>
            <a:ext cx="71323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9176" y="2999232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Source 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76688" y="2935224"/>
            <a:ext cx="62179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22408" y="2999232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98480" y="2935224"/>
            <a:ext cx="62179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44200" y="2999232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$1.60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320272" y="2935224"/>
            <a:ext cx="621792" cy="338328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365992" y="2999232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$1.40 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2999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6E86"/>
                </a:solidFill>
                <a:latin typeface="Calibri Light"/>
              </a:rPr>
              <a:t>✓ = cheapest lane per 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Sensitivity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Shadow price of gas &amp; profit robustness under coefficient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10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429"/>
                </a:solidFill>
                <a:latin typeface="Calibri"/>
              </a:rPr>
              <a:t>Shadow Price of Gas Constraint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5303520" cy="36576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18872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80136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737360"/>
            <a:ext cx="109728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46504" y="1801368"/>
            <a:ext cx="1005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Gas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737360"/>
            <a:ext cx="178308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4" y="1801368"/>
            <a:ext cx="1691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Marginal Product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737360"/>
            <a:ext cx="114300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801368"/>
            <a:ext cx="1051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Shadow Price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12264"/>
            <a:ext cx="118872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176272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2112264"/>
            <a:ext cx="109728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2176272"/>
            <a:ext cx="10241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85,680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112264"/>
            <a:ext cx="178308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176272"/>
            <a:ext cx="17099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Hydrofluoric Acid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112264"/>
            <a:ext cx="114300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176272"/>
            <a:ext cx="10698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$5.59/10³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487168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51176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20% Cut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2487168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551176"/>
            <a:ext cx="10241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68,544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2487168"/>
            <a:ext cx="17830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2551176"/>
            <a:ext cx="17099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Ammonia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487168"/>
            <a:ext cx="11430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2551176"/>
            <a:ext cx="10698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$5.83/10³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862072"/>
            <a:ext cx="118872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926080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30% Cut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2862072"/>
            <a:ext cx="109728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37360" y="2926080"/>
            <a:ext cx="10241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59,976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2862072"/>
            <a:ext cx="178308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2926080"/>
            <a:ext cx="17099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Vinyl Chloride Mon.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862072"/>
            <a:ext cx="114300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2926080"/>
            <a:ext cx="10698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$5.94/10³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236976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30098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40% Cut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91640" y="3236976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7360" y="3300984"/>
            <a:ext cx="10241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51,408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88920" y="3236976"/>
            <a:ext cx="17830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40" y="3300984"/>
            <a:ext cx="17099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Vinyl Chloride Mon.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3236976"/>
            <a:ext cx="11430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3300984"/>
            <a:ext cx="10698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$5.94/10³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611880"/>
            <a:ext cx="118872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675888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50% Cut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91640" y="3611880"/>
            <a:ext cx="109728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37360" y="3675888"/>
            <a:ext cx="10241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42,840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88920" y="3611880"/>
            <a:ext cx="178308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3675888"/>
            <a:ext cx="17099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Caustic Soda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611880"/>
            <a:ext cx="114300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17720" y="3675888"/>
            <a:ext cx="10698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$6.25/10³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3703320"/>
            <a:ext cx="5303520" cy="1143000"/>
          </a:xfrm>
          <a:prstGeom prst="rect">
            <a:avLst/>
          </a:prstGeom>
          <a:solidFill>
            <a:srgbClr val="FDF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" y="3703320"/>
            <a:ext cx="54864" cy="114300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767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429"/>
                </a:solidFill>
                <a:latin typeface="Calibri"/>
              </a:rPr>
              <a:t>Managerial Implication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411480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C2C"/>
                </a:solidFill>
                <a:latin typeface="Calibri Light"/>
              </a:rPr>
              <a:t>Every 1,000 cu.ft of spot gas BarCo secures above the curtailed budget is worth $5.59–$6.25 to daily profit. This defines the maximum price BarCo should pay for emergency gas procurement.</a:t>
            </a:r>
          </a:p>
        </p:txBody>
      </p:sp>
      <p:pic>
        <p:nvPicPr>
          <p:cNvPr id="63" name="Picture 62" descr="profi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61872"/>
            <a:ext cx="5943600" cy="36576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502920" y="4983480"/>
            <a:ext cx="11183112" cy="141732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4983480"/>
            <a:ext cx="54864" cy="14173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0566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429"/>
                </a:solidFill>
                <a:latin typeface="Calibri"/>
              </a:rPr>
              <a:t>Profit Coefficient Stability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5422392"/>
            <a:ext cx="11000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>
                <a:solidFill>
                  <a:srgbClr val="121C2C"/>
                </a:solidFill>
                <a:latin typeface="Calibri Light"/>
              </a:rPr>
              <a:t>•  Protected 4 products: stable within ±20% margin movement — no change to optimal mix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C2C"/>
                </a:solidFill>
                <a:latin typeface="Calibri Light"/>
              </a:rPr>
              <a:t>•  Marginal products (Ammonia, VCM, Caustic Soda, HF): a −20% price drop removes them from the optimal mix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121C2C"/>
                </a:solidFill>
                <a:latin typeface="Calibri Light"/>
              </a:rPr>
              <a:t>•  Rule: small change (&lt;10%) → no action; medium (10–20%) → re-run LP monthly; large (&gt;20%) → re-optimise immediately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Environmental Scenario: Minimising CO₂ Emissions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What if BarCo pursues sustainability alongside profit?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11 / 15</a:t>
            </a:r>
          </a:p>
        </p:txBody>
      </p:sp>
      <p:pic>
        <p:nvPicPr>
          <p:cNvPr id="9" name="Picture 8" descr="co2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713232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3258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429"/>
                </a:solidFill>
                <a:latin typeface="Calibri"/>
              </a:rPr>
              <a:t>Profit–Emissions Trade-off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664208"/>
            <a:ext cx="4297680" cy="36576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737360"/>
            <a:ext cx="100584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4" y="1801368"/>
            <a:ext cx="914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Profit Floor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737360"/>
            <a:ext cx="123444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41664" y="1801368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Daily Profit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1737360"/>
            <a:ext cx="96012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76104" y="1801368"/>
            <a:ext cx="868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CO₂ (kg)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81360" y="1737360"/>
            <a:ext cx="1005840" cy="374904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36224" y="1801368"/>
            <a:ext cx="914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CO₂ Cut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112264"/>
            <a:ext cx="100584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2176272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112264"/>
            <a:ext cx="123444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176272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8875C"/>
                </a:solidFill>
                <a:latin typeface="Calibri"/>
              </a:rPr>
              <a:t>$611,062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2112264"/>
            <a:ext cx="96012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176272"/>
            <a:ext cx="8869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5.74 kg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81360" y="2112264"/>
            <a:ext cx="100584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27080" y="2176272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4.4% 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487168"/>
            <a:ext cx="10058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2551176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90%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2487168"/>
            <a:ext cx="12344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2551176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$549,956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2487168"/>
            <a:ext cx="9601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2551176"/>
            <a:ext cx="8869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4.98 kg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81360" y="2487168"/>
            <a:ext cx="10058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27080" y="2551176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17.0% 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862072"/>
            <a:ext cx="100584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80" y="2926080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80%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2862072"/>
            <a:ext cx="123444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926080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$488,849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2862072"/>
            <a:ext cx="96012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2926080"/>
            <a:ext cx="8869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4.26 kg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81360" y="2862072"/>
            <a:ext cx="1005840" cy="374904"/>
          </a:xfrm>
          <a:prstGeom prst="rect">
            <a:avLst/>
          </a:prstGeom>
          <a:solidFill>
            <a:srgbClr val="EBF1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27080" y="2926080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29.0% 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3236976"/>
            <a:ext cx="10058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80" y="3300984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70%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3236976"/>
            <a:ext cx="12344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300984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B2B"/>
                </a:solidFill>
                <a:latin typeface="Calibri"/>
              </a:rPr>
              <a:t>$427,743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21240" y="3236976"/>
            <a:ext cx="9601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3300984"/>
            <a:ext cx="8869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3.57 kg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81360" y="3236976"/>
            <a:ext cx="10058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3300984"/>
            <a:ext cx="9326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C2C"/>
                </a:solidFill>
                <a:latin typeface="Calibri"/>
              </a:rPr>
              <a:t>40.5% 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3337560"/>
            <a:ext cx="4297680" cy="3063240"/>
          </a:xfrm>
          <a:prstGeom prst="rect">
            <a:avLst/>
          </a:prstGeom>
          <a:solidFill>
            <a:srgbClr val="E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80960" y="3337560"/>
            <a:ext cx="54864" cy="3063240"/>
          </a:xfrm>
          <a:prstGeom prst="rect">
            <a:avLst/>
          </a:prstGeom>
          <a:solidFill>
            <a:srgbClr val="18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27264" y="34290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429"/>
                </a:solidFill>
                <a:latin typeface="Calibri"/>
              </a:rPr>
              <a:t>Key Findings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7264" y="3840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▸  At profit-max baseline, BarCo's production CO₂ is already 4.4% below the stated 6.0 kg baseline — because ammonia runs at full capacity (lower emission use)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27264" y="4297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▸  A 10% profit sacrifice achieves 17% CO₂ reduction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7264" y="4754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▸  Break-even carbon price ≈ $80,000/tonne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27264" y="52120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▸  Australia's Safeguard Mechanism: ~$30/tonne today — profit-max remains optimal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7264" y="5669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C2C"/>
                </a:solidFill>
                <a:latin typeface="Calibri Light"/>
              </a:rPr>
              <a:t>▸  The CO₂-aware LP is ready to activate when carbon prices rise meaningfully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074920"/>
            <a:ext cx="7132320" cy="594360"/>
          </a:xfrm>
          <a:prstGeom prst="rect">
            <a:avLst/>
          </a:prstGeom>
          <a:solidFill>
            <a:srgbClr val="E0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5102352"/>
            <a:ext cx="6858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45044"/>
                </a:solidFill>
                <a:latin typeface="Calibri Light"/>
              </a:rPr>
              <a:t>Ammonia deserves protection: it is BarCo's lowest-emission gas use AND qualifies for 2nd-Priority regulatory protection. Cutting ammonia for short-term profit is both financially and reputationally risky.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58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4"/>
                </a:solidFill>
                <a:latin typeface="Calibri Light"/>
              </a:rPr>
              <a:t>Three evidence-based actions for BarCo management — each with quantified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183112" cy="1664208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868680" cy="1664208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28800"/>
            <a:ext cx="804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AE1C"/>
                </a:solidFill>
                <a:latin typeface="Calibri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4356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81429"/>
                </a:solidFill>
                <a:latin typeface="Calibri"/>
              </a:rPr>
              <a:t>Implement the LP-Derived Production Priority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56232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C2C"/>
                </a:solidFill>
                <a:latin typeface="Calibri Light"/>
              </a:rPr>
              <a:t>Written policy: always run AP, Urea, Chlorine, AN at full capacity  ·  Cutback sequence: HF → Ammonia → VCM → Caustic Soda
Value: ~$16M/year over naive proportional cut at 50% scenario  ·  Shadow price defines max price for emergency spot gas: $5.59–$6.25/10³ cu.ft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11183112" cy="1664208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868680" cy="1664208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611880"/>
            <a:ext cx="804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81429"/>
                </a:solidFill>
                <a:latin typeface="Calibri"/>
              </a:rPr>
              <a:t>Commit to 5-Lane Distribution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39312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C2C"/>
                </a:solidFill>
                <a:latin typeface="Calibri Light"/>
              </a:rPr>
              <a:t>Pre-negotiate volume-flexible contracts on lanes: I→B, J→A, J→B, K→B, K→C  ·  No need to re-tender each curtailment cycle — structure is invariant
Renegotiate unused lanes I→C ($1.60) and K→A ($1.80) for cost optionality  ·  Average unit cost locked at $1.33/10³ cu.ft regardless of curtailment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92040"/>
            <a:ext cx="11183112" cy="1664208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868680" cy="1664208"/>
          </a:xfrm>
          <a:prstGeom prst="rect">
            <a:avLst/>
          </a:prstGeom>
          <a:solidFill>
            <a:srgbClr val="18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5394960"/>
            <a:ext cx="804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017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81429"/>
                </a:solidFill>
                <a:latin typeface="Calibri"/>
              </a:rPr>
              <a:t>Run CO₂-Aware LP in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22392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C2C"/>
                </a:solidFill>
                <a:latin typeface="Calibri Light"/>
              </a:rPr>
              <a:t>Report Pareto trade-off to the board each planning cycle  ·  Baseline production CO₂ already 4.4% below stated target — document this
Activate CO₂-aware variant when AUS carbon prices clear ~$80/tonne  ·  Positions BarCo ahead of tightening carbon regulation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E6E86"/>
                </a:solidFill>
                <a:latin typeface="Calibri Light"/>
              </a:rP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AE1C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6400800" cy="41148"/>
          </a:xfrm>
          <a:prstGeom prst="rect">
            <a:avLst/>
          </a:prstGeom>
          <a:solidFill>
            <a:srgbClr val="F0A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" cy="64008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350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LP transforms curtailment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824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8D4"/>
                </a:solidFill>
                <a:latin typeface="Calibri Light"/>
              </a:rPr>
              <a:t>from high-pressure judgment calls into transparent, pre-committed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54864" cy="64008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579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Profit drops sub-proportionally to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8D4"/>
                </a:solidFill>
                <a:latin typeface="Calibri Light"/>
              </a:rPr>
              <a:t>a 50% gas cut → only 41.3% profit drop  ≈  $16M/year in LP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54864" cy="64008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80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Shadow price quantifies gas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2841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8D4"/>
                </a:solidFill>
                <a:latin typeface="Calibri Light"/>
              </a:rPr>
              <a:t>$5.59–$6.25 per 1,000 cu.ft — the ceiling for emergency procurement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40"/>
            <a:ext cx="54864" cy="640080"/>
          </a:xfrm>
          <a:prstGeom prst="rect">
            <a:avLst/>
          </a:prstGeom>
          <a:solidFill>
            <a:srgbClr val="0D9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0390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Same model supports CO₂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513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8D4"/>
                </a:solidFill>
                <a:latin typeface="Calibri Light"/>
              </a:rPr>
              <a:t>ready to activate as carbon pricing enters Australian industrial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60"/>
            <a:ext cx="10908792" cy="1463040"/>
          </a:xfrm>
          <a:prstGeom prst="rect">
            <a:avLst/>
          </a:prstGeom>
          <a:solidFill>
            <a:srgbClr val="0E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10543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  <a:latin typeface="Calibri Light"/>
              </a:rPr>
              <a:t>With these three recommendations implemented, BarCo will not only weather the 2026 brownouts — it will build a planning capability fit for the more constrained, more carbon-aware operating environment of the years ahead.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E1C"/>
                </a:solidFill>
                <a:latin typeface="Calibri"/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